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cb14808354c35" /><Relationship Type="http://schemas.openxmlformats.org/officeDocument/2006/relationships/extended-properties" Target="/docProps/app.xml" Id="R32b63e1a70d447a4" /><Relationship Type="http://schemas.openxmlformats.org/officeDocument/2006/relationships/officeDocument" Target="/ppt/presentation.xml" Id="Rd8091dde8b73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a64ffd78346a0"/>
  </p:sldMasterIdLst>
  <p:notesMasterIdLst>
    <p:notesMasterId xmlns:r="http://schemas.openxmlformats.org/officeDocument/2006/relationships" r:id="R9700cef667c14279"/>
  </p:notesMasterIdLst>
  <p:sldIdLst>
    <p:sldId xmlns:r="http://schemas.openxmlformats.org/officeDocument/2006/relationships" id="256" r:id="R11038b68502149f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8c23245ef4cbb" /><Relationship Type="http://schemas.openxmlformats.org/officeDocument/2006/relationships/slideMaster" Target="/ppt/slideMasters/slideMaster1.xml" Id="Rb82a64ffd78346a0" /><Relationship Type="http://schemas.openxmlformats.org/officeDocument/2006/relationships/notesMaster" Target="/ppt/notesMasters/notesMaster1.xml" Id="R9700cef667c14279" /><Relationship Type="http://schemas.openxmlformats.org/officeDocument/2006/relationships/presProps" Target="/ppt/presProps.xml" Id="Rb72b9c8b1365416f" /><Relationship Type="http://schemas.openxmlformats.org/officeDocument/2006/relationships/tableStyles" Target="/ppt/tableStyles.xml" Id="R5877968bc78e4f70" /><Relationship Type="http://schemas.openxmlformats.org/officeDocument/2006/relationships/slide" Target="/ppt/slides/slide1.xml" Id="R11038b685021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9b0bbdea18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fb5a73f734a85" /><Relationship Type="http://schemas.openxmlformats.org/officeDocument/2006/relationships/notesMaster" Target="/ppt/notesMasters/notesMaster1.xml" Id="Re58eb2a13222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MINA product overview. User-requested subtitle: Mediation, Integration and Transformation. Audience assumption: business and technology leaders; concise live overview. Capabilities summarized from the user-provided product history and local implementation, including backend/app/runtime.py, backend/app/raw_python.py, backend/app/sap.py, frontend/src/ActivityEditor.tsx and administrator. Vendor drivers, credentials, network access and target-runtime dependencies must be provisioned separately. Connector certification and production load qualification are not implied. Exported Python capabilities depend on the operations used. No throughput, SLA or certification claims. Background: original AI-generated conceptual MINA connectivity illustration,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c7be846f9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18860dcd694445" /><Relationship Type="http://schemas.openxmlformats.org/officeDocument/2006/relationships/slideLayout" Target="/ppt/slideLayouts/slideLayout1.xml" Id="R0b9ea127c7a3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9ea127c7a3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d768b4b7248cb" /><Relationship Type="http://schemas.openxmlformats.org/officeDocument/2006/relationships/image" Target="/ppt/media/image.png" Id="Rb0f67aba68394f97" /><Relationship Type="http://schemas.openxmlformats.org/officeDocument/2006/relationships/notesSlide" Target="/ppt/notesSlides/notesSlide1.xml" Id="Ra03d262519fe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67aba68394f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category">
            <a:extLst xmlns:a="http://schemas.openxmlformats.org/drawingml/2006/main">
              <a:ext uri="{FF2B5EF4-FFF2-40B4-BE49-F238E27FC236}">
                <a16:creationId xmlns:a16="http://schemas.microsoft.com/office/drawing/2014/main" id="{6A3675B7-004F-4F0E-BDFD-6FE45FC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13" b="1">
                <a:solidFill>
                  <a:srgbClr val="73DAF1"/>
                </a:solidFill>
                <a:latin typeface="Calibri"/>
                <a:ea typeface="Calibri"/>
                <a:cs typeface="Calibri"/>
              </a:defRPr>
            </a:pPr>
            <a:r>
              <a:rPr sz="1513" b="1">
                <a:solidFill>
                  <a:srgbClr val="73DAF1"/>
                </a:solidFill>
                <a:latin typeface="Calibri"/>
                <a:ea typeface="Calibri"/>
                <a:cs typeface="Calibri"/>
              </a:rPr>
              <a:t>ENTERPRISE INTEGRATION PLATFORM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214E253-9A2C-4E0B-8A6D-3C290B1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809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71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71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MINA</a:t>
            </a:r>
          </a:p>
        </p:txBody>
      </p:sp>
      <p:sp>
        <p:nvSpPr>
          <p:cNvPr id="4" name="expansion">
            <a:extLst xmlns:a="http://schemas.openxmlformats.org/drawingml/2006/main">
              <a:ext uri="{FF2B5EF4-FFF2-40B4-BE49-F238E27FC236}">
                <a16:creationId xmlns:a16="http://schemas.microsoft.com/office/drawing/2014/main" id="{48C9FACA-A48E-43DB-80B7-55C74124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19325"/>
            <a:ext cx="866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63" b="1">
                <a:solidFill>
                  <a:srgbClr val="D9F5FF"/>
                </a:solidFill>
                <a:latin typeface="Calibri"/>
                <a:ea typeface="Calibri"/>
                <a:cs typeface="Calibri"/>
              </a:defRPr>
            </a:pPr>
            <a:r>
              <a:rPr sz="3163" b="1">
                <a:solidFill>
                  <a:srgbClr val="D9F5FF"/>
                </a:solidFill>
                <a:latin typeface="Calibri"/>
                <a:ea typeface="Calibri"/>
                <a:cs typeface="Calibri"/>
              </a:rPr>
              <a:t>Mediation, Integration</a:t>
            </a:r>
          </a:p>
          <a:p xmlns:a="http://schemas.openxmlformats.org/drawingml/2006/main">
            <a:pPr>
              <a:buNone/>
              <a:defRPr sz="3163" b="1">
                <a:solidFill>
                  <a:srgbClr val="D9F5FF"/>
                </a:solidFill>
                <a:latin typeface="Calibri"/>
                <a:ea typeface="Calibri"/>
                <a:cs typeface="Calibri"/>
              </a:defRPr>
            </a:pPr>
            <a:r>
              <a:rPr sz="3163" b="1">
                <a:solidFill>
                  <a:srgbClr val="D9F5FF"/>
                </a:solidFill>
                <a:latin typeface="Calibri"/>
                <a:ea typeface="Calibri"/>
                <a:cs typeface="Calibri"/>
              </a:rPr>
              <a:t>and Transformation</a:t>
            </a:r>
          </a:p>
        </p:txBody>
      </p:sp>
      <p:sp>
        <p:nvSpPr>
          <p:cNvPr id="5" name="description">
            <a:extLst xmlns:a="http://schemas.openxmlformats.org/drawingml/2006/main">
              <a:ext uri="{FF2B5EF4-FFF2-40B4-BE49-F238E27FC236}">
                <a16:creationId xmlns:a16="http://schemas.microsoft.com/office/drawing/2014/main" id="{EA03013D-1AF2-4CD2-B6B6-62B2A13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13" b="0">
                <a:solidFill>
                  <a:srgbClr val="BDD0E4"/>
                </a:solidFill>
                <a:latin typeface="Calibri"/>
                <a:ea typeface="Calibri"/>
                <a:cs typeface="Calibri"/>
              </a:defRPr>
            </a:pPr>
            <a:r>
              <a:rPr sz="2113" b="0">
                <a:solidFill>
                  <a:srgbClr val="BDD0E4"/>
                </a:solidFill>
                <a:latin typeface="Calibri"/>
                <a:ea typeface="Calibri"/>
                <a:cs typeface="Calibri"/>
              </a:rPr>
              <a:t>A visual workspace for connecting enterprise systems</a:t>
            </a:r>
          </a:p>
          <a:p xmlns:a="http://schemas.openxmlformats.org/drawingml/2006/main">
            <a:pPr>
              <a:buNone/>
              <a:defRPr sz="2113" b="0">
                <a:solidFill>
                  <a:srgbClr val="BDD0E4"/>
                </a:solidFill>
                <a:latin typeface="Calibri"/>
                <a:ea typeface="Calibri"/>
                <a:cs typeface="Calibri"/>
              </a:defRPr>
            </a:pPr>
            <a:r>
              <a:rPr sz="2113" b="0">
                <a:solidFill>
                  <a:srgbClr val="BDD0E4"/>
                </a:solidFill>
                <a:latin typeface="Calibri"/>
                <a:ea typeface="Calibri"/>
                <a:cs typeface="Calibri"/>
              </a:rPr>
              <a:t>and transforming data into executable integration flows.</a:t>
            </a:r>
          </a:p>
        </p:txBody>
      </p:sp>
      <p:sp>
        <p:nvSpPr>
          <p:cNvPr id="6" name="studio-heading">
            <a:extLst xmlns:a="http://schemas.openxmlformats.org/drawingml/2006/main">
              <a:ext uri="{FF2B5EF4-FFF2-40B4-BE49-F238E27FC236}">
                <a16:creationId xmlns:a16="http://schemas.microsoft.com/office/drawing/2014/main" id="{AC191F9C-129D-43D1-8247-CEA8998F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13" b="1">
                <a:solidFill>
                  <a:srgbClr val="74E5F0"/>
                </a:solidFill>
                <a:latin typeface="Calibri"/>
                <a:ea typeface="Calibri"/>
                <a:cs typeface="Calibri"/>
              </a:defRPr>
            </a:pPr>
            <a:r>
              <a:rPr sz="2413" b="1">
                <a:solidFill>
                  <a:srgbClr val="74E5F0"/>
                </a:solidFill>
                <a:latin typeface="Calibri"/>
                <a:ea typeface="Calibri"/>
                <a:cs typeface="Calibri"/>
              </a:rPr>
              <a:t>Visual development</a:t>
            </a:r>
          </a:p>
        </p:txBody>
      </p:sp>
      <p:sp>
        <p:nvSpPr>
          <p:cNvPr id="7" name="studio-body">
            <a:extLst xmlns:a="http://schemas.openxmlformats.org/drawingml/2006/main">
              <a:ext uri="{FF2B5EF4-FFF2-40B4-BE49-F238E27FC236}">
                <a16:creationId xmlns:a16="http://schemas.microsoft.com/office/drawing/2014/main" id="{BD1E47FA-D39A-4C83-A5B9-013B227B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4314825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Design event-driven flows with reusable</a:t>
            </a:r>
          </a:p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tasks and schema-aware mapping.</a:t>
            </a:r>
          </a:p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Inspect job data, test activities and</a:t>
            </a:r>
          </a:p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step through execution in Debug.</a:t>
            </a:r>
          </a:p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Develop faster with AI at task and</a:t>
            </a:r>
          </a:p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project level. Easily extend integrations</a:t>
            </a:r>
          </a:p>
          <a:p xmlns:a="http://schemas.openxmlformats.org/drawingml/2006/main">
            <a:pPr>
              <a:buNone/>
              <a:defRPr sz="1800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with new connector plugins.</a:t>
            </a:r>
          </a:p>
        </p:txBody>
      </p:sp>
      <p:sp>
        <p:nvSpPr>
          <p:cNvPr id="8" name="connect-heading">
            <a:extLst xmlns:a="http://schemas.openxmlformats.org/drawingml/2006/main">
              <a:ext uri="{FF2B5EF4-FFF2-40B4-BE49-F238E27FC236}">
                <a16:creationId xmlns:a16="http://schemas.microsoft.com/office/drawing/2014/main" id="{E5B5265B-A939-4750-9640-0B82552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19700"/>
            <a:ext cx="439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13" b="1">
                <a:solidFill>
                  <a:srgbClr val="74E5F0"/>
                </a:solidFill>
                <a:latin typeface="Calibri"/>
                <a:ea typeface="Calibri"/>
                <a:cs typeface="Calibri"/>
              </a:defRPr>
            </a:pPr>
            <a:r>
              <a:rPr sz="2413" b="1">
                <a:solidFill>
                  <a:srgbClr val="74E5F0"/>
                </a:solidFill>
                <a:latin typeface="Calibri"/>
                <a:ea typeface="Calibri"/>
                <a:cs typeface="Calibri"/>
              </a:rPr>
              <a:t>Enterprise connectivity</a:t>
            </a:r>
          </a:p>
        </p:txBody>
      </p:sp>
      <p:sp>
        <p:nvSpPr>
          <p:cNvPr id="9" name="connect-body">
            <a:extLst xmlns:a="http://schemas.openxmlformats.org/drawingml/2006/main">
              <a:ext uri="{FF2B5EF4-FFF2-40B4-BE49-F238E27FC236}">
                <a16:creationId xmlns:a16="http://schemas.microsoft.com/office/drawing/2014/main" id="{BB681D7C-7E25-4BD4-B6B1-0F5D66B7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19775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Connect SAP IDoc, RFC and BAPI</a:t>
            </a:r>
          </a:p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with EMS/JMS, Kafka and Pub/Sub.</a:t>
            </a:r>
          </a:p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Integrate APIs, files and databases</a:t>
            </a:r>
          </a:p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within the same orchestration.</a:t>
            </a:r>
          </a:p>
        </p:txBody>
      </p:sp>
      <p:sp>
        <p:nvSpPr>
          <p:cNvPr id="10" name="operate-heading">
            <a:extLst xmlns:a="http://schemas.openxmlformats.org/drawingml/2006/main">
              <a:ext uri="{FF2B5EF4-FFF2-40B4-BE49-F238E27FC236}">
                <a16:creationId xmlns:a16="http://schemas.microsoft.com/office/drawing/2014/main" id="{47483B41-5BB0-4A39-BFF3-1F203C9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13" b="1">
                <a:solidFill>
                  <a:srgbClr val="74E5F0"/>
                </a:solidFill>
                <a:latin typeface="Calibri"/>
                <a:ea typeface="Calibri"/>
                <a:cs typeface="Calibri"/>
              </a:defRPr>
            </a:pPr>
            <a:r>
              <a:rPr sz="2413" b="1">
                <a:solidFill>
                  <a:srgbClr val="74E5F0"/>
                </a:solidFill>
                <a:latin typeface="Calibri"/>
                <a:ea typeface="Calibri"/>
                <a:cs typeface="Calibri"/>
              </a:rPr>
              <a:t>Deployment &amp; operations</a:t>
            </a:r>
          </a:p>
        </p:txBody>
      </p:sp>
      <p:sp>
        <p:nvSpPr>
          <p:cNvPr id="11" name="operate-body">
            <a:extLst xmlns:a="http://schemas.openxmlformats.org/drawingml/2006/main">
              <a:ext uri="{FF2B5EF4-FFF2-40B4-BE49-F238E27FC236}">
                <a16:creationId xmlns:a16="http://schemas.microsoft.com/office/drawing/2014/main" id="{5A810888-1518-4005-96FF-2A482FD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9775"/>
            <a:ext cx="4305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Export packages or Python applications.</a:t>
            </a:r>
          </a:p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Manage environment profiles and</a:t>
            </a:r>
          </a:p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application lifecycle through the</a:t>
            </a:r>
          </a:p>
          <a:p xmlns:a="http://schemas.openxmlformats.org/drawingml/2006/main">
            <a:pPr>
              <a:buNone/>
              <a:defRPr sz="1963" b="0">
                <a:solidFill>
                  <a:srgbClr val="F4F8FF"/>
                </a:solidFill>
                <a:latin typeface="Calibri"/>
                <a:ea typeface="Calibri"/>
                <a:cs typeface="Calibri"/>
              </a:defRPr>
            </a:pPr>
            <a:r>
              <a:rPr sz="1963" b="0">
                <a:solidFill>
                  <a:srgbClr val="F4F8FF"/>
                </a:solidFill>
                <a:latin typeface="Calibri"/>
                <a:ea typeface="Calibri"/>
                <a:cs typeface="Calibri"/>
              </a:rPr>
              <a:t>Control Plane, with runtime telemetry.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D272E9F-9E79-4034-929A-E6A1BE2C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05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38" b="0">
                <a:solidFill>
                  <a:srgbClr val="97B3CA"/>
                </a:solidFill>
                <a:latin typeface="Calibri"/>
                <a:ea typeface="Calibri"/>
                <a:cs typeface="Calibri"/>
              </a:defRPr>
            </a:pPr>
            <a:r>
              <a:rPr sz="1738" b="0">
                <a:solidFill>
                  <a:srgbClr val="97B3CA"/>
                </a:solidFill>
                <a:latin typeface="Calibri"/>
                <a:ea typeface="Calibri"/>
                <a:cs typeface="Calibri"/>
              </a:rPr>
              <a:t>Windows &amp; Linux     /     On-premises &amp; cloud</a:t>
            </a:r>
          </a:p>
        </p:txBody>
      </p:sp>
    </p:spTree>
    <p:extLst>
      <p:ext uri="{BB962C8B-B14F-4D97-AF65-F5344CB8AC3E}">
        <p14:creationId xmlns:p14="http://schemas.microsoft.com/office/powerpoint/2010/main" val="460262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2026-09-24T07:00:25.0230000Z</dcterms:created>
  <dcterms:modified xsi:type="dcterms:W3CDTF">2026-09-24T07:00:25.0230000Z</dcterms:modified>
</coreProperties>
</file>