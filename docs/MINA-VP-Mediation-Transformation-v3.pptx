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8da8ff8941d4c44" /><Relationship Type="http://schemas.openxmlformats.org/officeDocument/2006/relationships/extended-properties" Target="/docProps/app.xml" Id="R00641887cdeb4dfb" /><Relationship Type="http://schemas.openxmlformats.org/officeDocument/2006/relationships/officeDocument" Target="/ppt/presentation.xml" Id="Rb782f334f47e4e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a83ac18e524f07"/>
  </p:sldMasterIdLst>
  <p:notesMasterIdLst>
    <p:notesMasterId xmlns:r="http://schemas.openxmlformats.org/officeDocument/2006/relationships" r:id="Ra28d84d0e0b54870"/>
  </p:notesMasterIdLst>
  <p:sldIdLst>
    <p:sldId xmlns:r="http://schemas.openxmlformats.org/officeDocument/2006/relationships" id="256" r:id="R1dc8cdc3399f4813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ca50038c88d4a6f" /><Relationship Type="http://schemas.openxmlformats.org/officeDocument/2006/relationships/slideMaster" Target="/ppt/slideMasters/slideMaster1.xml" Id="R1da83ac18e524f07" /><Relationship Type="http://schemas.openxmlformats.org/officeDocument/2006/relationships/notesMaster" Target="/ppt/notesMasters/notesMaster1.xml" Id="Ra28d84d0e0b54870" /><Relationship Type="http://schemas.openxmlformats.org/officeDocument/2006/relationships/presProps" Target="/ppt/presProps.xml" Id="R5adb570c1a9347fb" /><Relationship Type="http://schemas.openxmlformats.org/officeDocument/2006/relationships/tableStyles" Target="/ppt/tableStyles.xml" Id="R2841cd34cffa460c" /><Relationship Type="http://schemas.openxmlformats.org/officeDocument/2006/relationships/slide" Target="/ppt/slides/slide1.xml" Id="R1dc8cdc3399f48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50c3736c74246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6b285f7ca640a6" /><Relationship Type="http://schemas.openxmlformats.org/officeDocument/2006/relationships/notesMaster" Target="/ppt/notesMasters/notesMaster1.xml" Id="R4078f48395c24d4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VP TALK TRACK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MINA is the implementation approach for the Mediation &amp; Transformation capability. Its role is narrow and important: bridge technical and contract differences at an enterprise boundary without taking ownership of business behavior.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slide follows the architecture guardrails. MINA supports contract mapping, technical validation, protocol adaptation, and bounded routing or filtering. It keeps ownership explicit and does not become a hidden business-logic layer, system of record, or substitute for participant responsibility.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lower section describes implemented MINA capabilities: visual flow design, mapping, validation, debugging, reusable tasks, SAP and messaging connectivity, Python generation, Control Plane deployment, and runtime lifecycle visibility.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MINA adds a delivery differentiator: teams can work visually and generate portable Python applications. The generated application remains understandable and can run through the Control Plane or supported runtimes.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- Mediation &amp; Transformation, Integration Reference Architecture: https://curator.ssg.petsmart.com/docs/integration-framework/reference-architecture/domains/mediation-transformation/</a:t>
            </a:r>
          </a:p>
          <a:p xmlns:a="http://schemas.openxmlformats.org/drawingml/2006/main">
            <a:r>
              <a:t>- Mediation &amp; Transformation Guardrails: https://curator.ssg.petsmart.com/docs/integration-framework/architecture-guardrails/integration-architecture/mediation-transformation/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The hero illustration is conceptual and AI-generated. It represents a system boundary, mediation, validation, and recovery; it is not a product screenshot.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41433e3a1a41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5844f2003c4353" /><Relationship Type="http://schemas.openxmlformats.org/officeDocument/2006/relationships/slideLayout" Target="/ppt/slideLayouts/slideLayout1.xml" Id="R804ad39692cf468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04ad39692cf468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b7412af47348f4" /><Relationship Type="http://schemas.openxmlformats.org/officeDocument/2006/relationships/image" Target="/ppt/media/image.png" Id="R66e73142a5994610" /><Relationship Type="http://schemas.openxmlformats.org/officeDocument/2006/relationships/notesSlide" Target="/ppt/notesSlides/notesSlide1.xml" Id="R5d9798e3c2c647e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132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e73142a599461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17549-8B78-4757-A9C9-B7CAC3DEE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15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5DBF4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45DBF4"/>
                </a:solidFill>
                <a:latin typeface="Calibri"/>
                <a:ea typeface="Calibri"/>
                <a:cs typeface="Calibri"/>
              </a:rPr>
              <a:t>ENTERPRISE MEDIATION &amp; TRANSFORMATION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3165E8-0E60-4E54-8978-8A3CCCCB3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14400"/>
            <a:ext cx="533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49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MINA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D5780-8823-47B3-8D32-ACA771C7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6572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EAF4FF"/>
                </a:solidFill>
                <a:latin typeface="Calibri"/>
                <a:ea typeface="Calibri"/>
                <a:cs typeface="Calibri"/>
              </a:defRPr>
            </a:pPr>
            <a:r>
              <a:rPr sz="4050" b="1">
                <a:solidFill>
                  <a:srgbClr val="EAF4FF"/>
                </a:solidFill>
                <a:latin typeface="Calibri"/>
                <a:ea typeface="Calibri"/>
                <a:cs typeface="Calibri"/>
              </a:rPr>
              <a:t>Mediation at</a:t>
            </a:r>
          </a:p>
          <a:p xmlns:a="http://schemas.openxmlformats.org/drawingml/2006/main">
            <a:pPr>
              <a:defRPr sz="4050" b="1">
                <a:solidFill>
                  <a:srgbClr val="EAF4FF"/>
                </a:solidFill>
                <a:latin typeface="Calibri"/>
                <a:ea typeface="Calibri"/>
                <a:cs typeface="Calibri"/>
              </a:defRPr>
            </a:pPr>
            <a:r>
              <a:rPr sz="4050" b="1">
                <a:solidFill>
                  <a:srgbClr val="EAF4FF"/>
                </a:solidFill>
                <a:latin typeface="Calibri"/>
                <a:ea typeface="Calibri"/>
                <a:cs typeface="Calibri"/>
              </a:rPr>
              <a:t>enterprise boundaries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FD8B6-8E38-4600-A620-532E0EC8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38550"/>
            <a:ext cx="6096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6C6DC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B6C6DC"/>
                </a:solidFill>
                <a:latin typeface="Calibri"/>
                <a:ea typeface="Calibri"/>
                <a:cs typeface="Calibri"/>
              </a:rPr>
              <a:t>MINA bridges contract and protocol differences between participants while preserving explicit ownership and change responsibility.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13889B-607E-41AA-A94F-B3999AEC1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578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2E0F6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52E0F6"/>
                </a:solidFill>
                <a:latin typeface="Calibri"/>
                <a:ea typeface="Calibri"/>
                <a:cs typeface="Calibri"/>
              </a:rPr>
              <a:t>Design and transform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15271-5D64-45B4-B3DD-80A3F872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96000"/>
            <a:ext cx="228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DF4FD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DF4FD"/>
                </a:solidFill>
                <a:latin typeface="Calibri"/>
                <a:ea typeface="Calibri"/>
                <a:cs typeface="Calibri"/>
              </a:rPr>
              <a:t>Visual flows, mapping, validation, and debug tooling.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A7769-23D9-497E-8B01-97977652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6578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2E0F6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52E0F6"/>
                </a:solidFill>
                <a:latin typeface="Calibri"/>
                <a:ea typeface="Calibri"/>
                <a:cs typeface="Calibri"/>
              </a:rPr>
              <a:t>Connect at boundaries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46FEBE-348E-4A88-A094-D83EAEEC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6096000"/>
            <a:ext cx="2333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DF4FD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DF4FD"/>
                </a:solidFill>
                <a:latin typeface="Calibri"/>
                <a:ea typeface="Calibri"/>
                <a:cs typeface="Calibri"/>
              </a:rPr>
              <a:t>SAP, APIs, files, and messaging through controlled contracts.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B7B218-BF69-450B-B917-50D23D83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65785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2E0F6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52E0F6"/>
                </a:solidFill>
                <a:latin typeface="Calibri"/>
                <a:ea typeface="Calibri"/>
                <a:cs typeface="Calibri"/>
              </a:rPr>
              <a:t>Generate and operate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44BA1C-53FF-4E41-A247-7228DCCD3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096000"/>
            <a:ext cx="2524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EDF4FD"/>
                </a:solidFill>
                <a:latin typeface="Calibri"/>
                <a:ea typeface="Calibri"/>
                <a:cs typeface="Calibri"/>
              </a:defRPr>
            </a:pPr>
            <a:r>
              <a:rPr sz="1500" b="0">
                <a:solidFill>
                  <a:srgbClr val="EDF4FD"/>
                </a:solidFill>
                <a:latin typeface="Calibri"/>
                <a:ea typeface="Calibri"/>
                <a:cs typeface="Calibri"/>
              </a:rPr>
              <a:t>Portable Python, Control Plane deployment, runtime logs, and lifecycle actions.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3D1823-7FD4-4510-B35B-71DC2E35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67650"/>
            <a:ext cx="1181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7E98B6"/>
                </a:solidFill>
                <a:latin typeface="Calibri"/>
                <a:ea typeface="Calibri"/>
                <a:cs typeface="Calibri"/>
              </a:defRPr>
            </a:pPr>
            <a:r>
              <a:rPr sz="1275" b="0">
                <a:solidFill>
                  <a:srgbClr val="7E98B6"/>
                </a:solidFill>
                <a:latin typeface="Calibri"/>
                <a:ea typeface="Calibri"/>
                <a:cs typeface="Calibri"/>
              </a:rPr>
              <a:t>Differentiator: Visual design generates portable Python applications for the Control Plane or supported runtimes.</a:t>
            </a:r>
          </a:p>
        </p:txBody>
      </p:sp>
    </p:spTree>
    <p:extLst>
      <p:ext uri="{BB962C8B-B14F-4D97-AF65-F5344CB8AC3E}">
        <p14:creationId xmlns:p14="http://schemas.microsoft.com/office/powerpoint/2010/main" val="11266036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2026-09-26T00:13:38.2830000Z</dcterms:created>
  <dcterms:modified xsi:type="dcterms:W3CDTF">2026-09-26T00:13:38.2840000Z</dcterms:modified>
</coreProperties>
</file>