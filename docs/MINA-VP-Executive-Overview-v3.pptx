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e8233dfb72409e" /><Relationship Type="http://schemas.openxmlformats.org/officeDocument/2006/relationships/extended-properties" Target="/docProps/app.xml" Id="Rac461cd13b25416d" /><Relationship Type="http://schemas.openxmlformats.org/officeDocument/2006/relationships/officeDocument" Target="/ppt/presentation.xml" Id="R1615612539204545" /></Relationships>
</file>

<file path=ppt/presentation.xml><?xml version="1.0" encoding="utf-8"?>
<p:presentation xmlns:p="http://schemas.openxmlformats.org/presentationml/2006/main">
  <p:sldMasterIdLst>
    <p:sldMasterId xmlns:r="http://schemas.openxmlformats.org/officeDocument/2006/relationships" id="2147483648" r:id="Re1629f8f8858453e"/>
  </p:sldMasterIdLst>
  <p:notesMasterIdLst>
    <p:notesMasterId xmlns:r="http://schemas.openxmlformats.org/officeDocument/2006/relationships" r:id="R087938e5a3b94dfd"/>
  </p:notesMasterIdLst>
  <p:sldIdLst>
    <p:sldId xmlns:r="http://schemas.openxmlformats.org/officeDocument/2006/relationships" id="256" r:id="R2013b9b6d7274c8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7a2360cdcc499c" /><Relationship Type="http://schemas.openxmlformats.org/officeDocument/2006/relationships/slideMaster" Target="/ppt/slideMasters/slideMaster1.xml" Id="Re1629f8f8858453e" /><Relationship Type="http://schemas.openxmlformats.org/officeDocument/2006/relationships/notesMaster" Target="/ppt/notesMasters/notesMaster1.xml" Id="R087938e5a3b94dfd" /><Relationship Type="http://schemas.openxmlformats.org/officeDocument/2006/relationships/presProps" Target="/ppt/presProps.xml" Id="R086434e5c4b64ace" /><Relationship Type="http://schemas.openxmlformats.org/officeDocument/2006/relationships/tableStyles" Target="/ppt/tableStyles.xml" Id="Rc9caa0f868754a88" /><Relationship Type="http://schemas.openxmlformats.org/officeDocument/2006/relationships/slide" Target="/ppt/slides/slide1.xml" Id="R2013b9b6d7274c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37f2d6eee54a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1ebc46d1b84fec" /><Relationship Type="http://schemas.openxmlformats.org/officeDocument/2006/relationships/notesMaster" Target="/ppt/notesMasters/notesMaster1.xml" Id="Raf1a9f335f8a4a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 TALK TRACK</a:t>
            </a:r>
          </a:p>
          <a:p xmlns:a="http://schemas.openxmlformats.org/drawingml/2006/main">
            <a:r>
              <a:t/>
            </a:r>
          </a:p>
          <a:p xmlns:a="http://schemas.openxmlformats.org/drawingml/2006/main">
            <a:r>
              <a:t>MINA addresses Mediation &amp; Transformation: the enterprise capability that bridges technical and contract differences at system boundaries without taking ownership of participant business logic.</a:t>
            </a:r>
          </a:p>
          <a:p xmlns:a="http://schemas.openxmlformats.org/drawingml/2006/main">
            <a:r>
              <a:t/>
            </a:r>
          </a:p>
          <a:p xmlns:a="http://schemas.openxmlformats.org/drawingml/2006/main">
            <a:r>
              <a:t>The differentiator is portability. Teams can design an integration visually, then generate readable Python application code. That code can remain under team ownership, be versioned and reviewed, and run through the Control Plane or supported runtimes.</a:t>
            </a:r>
          </a:p>
          <a:p xmlns:a="http://schemas.openxmlformats.org/drawingml/2006/main">
            <a:r>
              <a:t/>
            </a:r>
          </a:p>
          <a:p xmlns:a="http://schemas.openxmlformats.org/drawingml/2006/main">
            <a:r>
              <a:t>MINA aligns to the architecture guardrails: mediation remains bounded; contract and transformation ownership stay explicit; and failures require visible recovery and replay behavior.</a:t>
            </a:r>
          </a:p>
          <a:p xmlns:a="http://schemas.openxmlformats.org/drawingml/2006/main">
            <a:r>
              <a:t/>
            </a:r>
          </a:p>
          <a:p xmlns:a="http://schemas.openxmlformats.org/drawingml/2006/main">
            <a:r>
              <a:t>Recommended discussion: sponsor a production-like pilot to validate delivery time, portability, recovery behavior, and operational support before broader adoption.</a:t>
            </a:r>
          </a:p>
          <a:p xmlns:a="http://schemas.openxmlformats.org/drawingml/2006/main">
            <a:r>
              <a:t/>
            </a:r>
          </a:p>
          <a:p xmlns:a="http://schemas.openxmlformats.org/drawingml/2006/main">
            <a:r>
              <a:t>Sources:</a:t>
            </a:r>
          </a:p>
          <a:p xmlns:a="http://schemas.openxmlformats.org/drawingml/2006/main">
            <a:r>
              <a:t>- Mediation &amp; Transformation, Integration Reference Architecture: https://curator.ssg.petsmart.com/docs/integration-framework/reference-architecture/domains/mediation-transformation/</a:t>
            </a:r>
          </a:p>
          <a:p xmlns:a="http://schemas.openxmlformats.org/drawingml/2006/main">
            <a:r>
              <a:t>- Mediation &amp; Transformation Guardrails: https://curator.ssg.petsmart.com/docs/integration-framework/architecture-guardrails/integration-architecture/mediation-transformation/</a:t>
            </a:r>
          </a:p>
          <a:p xmlns:a="http://schemas.openxmlformats.org/drawingml/2006/main">
            <a:r>
              <a:t>- MINA Executive Overview draft provided by the user.</a:t>
            </a:r>
          </a:p>
          <a:p xmlns:a="http://schemas.openxmlformats.org/drawingml/2006/main">
            <a:r>
              <a:t/>
            </a:r>
          </a:p>
          <a:p xmlns:a="http://schemas.openxmlformats.org/drawingml/2006/main">
            <a:r>
              <a:t>The connectivity artwork is conceptual and AI-generated; it is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bf0cd1423f46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7761b36b2b46a7" /><Relationship Type="http://schemas.openxmlformats.org/officeDocument/2006/relationships/slideLayout" Target="/ppt/slideLayouts/slideLayout1.xml" Id="R51d78cd1734a44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d78cd1734a44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c73db7e7e94b2e" /><Relationship Type="http://schemas.openxmlformats.org/officeDocument/2006/relationships/image" Target="/ppt/media/image.png" Id="R06a7977ba7ec4e6f" /><Relationship Type="http://schemas.openxmlformats.org/officeDocument/2006/relationships/notesSlide" Target="/ppt/notesSlides/notesSlide1.xml" Id="Rfaca9177e16f4b70"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a7977ba7ec4e6f"/>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Enterprise Mediation &amp; Transformation</a:t>
            </a:r>
          </a:p>
        </p:txBody>
      </p:sp>
      <p:sp>
        <p:nvSpPr>
          <p:cNvPr id="3" name="brand">
            <a:extLst xmlns:a="http://schemas.openxmlformats.org/drawingml/2006/main">
              <a:ext uri="{FF2B5EF4-FFF2-40B4-BE49-F238E27FC236}">
                <a16:creationId xmlns:a16="http://schemas.microsoft.com/office/drawing/2014/main" id="{2214E253-9A2C-4E0B-8A6D-3C290B1B0D1A}"/>
              </a:ext>
            </a:extLst>
          </p:cNvPr>
          <p:cNvSpPr>
            <a:spLocks xmlns:a="http://schemas.openxmlformats.org/drawingml/2006/main" noGrp="1"/>
          </p:cNvSpPr>
          <p:nvPr/>
        </p:nvSpPr>
        <p:spPr>
          <a:xfrm xmlns:a="http://schemas.openxmlformats.org/drawingml/2006/main">
            <a:off x="685800" y="10668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FFFFFF"/>
                </a:solidFill>
                <a:latin typeface="Calibri"/>
                <a:ea typeface="Calibri"/>
                <a:cs typeface="Calibri"/>
              </a:defRPr>
            </a:pPr>
            <a:r>
              <a:rPr sz="7500" b="1">
                <a:solidFill>
                  <a:srgbClr val="FFFFFF"/>
                </a:solidFill>
                <a:latin typeface="Calibri"/>
                <a:ea typeface="Calibri"/>
                <a:cs typeface="Calibri"/>
              </a:rPr>
              <a:t>MINA</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Governed integration delivery</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for enterprise change</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MINA adapts contracts and protocols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at system boundaries, then generates portable Python.</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Faster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Visual design accelerates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testable applications.</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Clear ownership</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Keep contracts and</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ownership explicit.</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Portable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Generated Python runs in</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the Control Plane or on Linux.</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
        <p:nvSpPr>
          <p:cNvPr id="14" name="">
            <a:extLst xmlns:a="http://schemas.openxmlformats.org/drawingml/2006/main">
              <a:ext uri="{FF2B5EF4-FFF2-40B4-BE49-F238E27FC236}">
                <a16:creationId xmlns:a16="http://schemas.microsoft.com/office/drawing/2014/main" id="{DCF6617B-2A24-4892-A7A4-42107E98CEBA}"/>
              </a:ext>
            </a:extLst>
          </p:cNvPr>
          <p:cNvSpPr>
            <a:spLocks xmlns:a="http://schemas.openxmlformats.org/drawingml/2006/main" noGrp="1"/>
          </p:cNvSpPr>
          <p:nvPr/>
        </p:nvSpPr>
        <p:spPr>
          <a:xfrm xmlns:a="http://schemas.openxmlformats.org/drawingml/2006/main">
            <a:off x="685800" y="1066800"/>
            <a:ext cx="571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Calibri"/>
                <a:ea typeface="Calibri"/>
                <a:cs typeface="Calibri"/>
              </a:defRPr>
            </a:pPr>
            <a:r>
              <a:rPr sz="5400" b="1">
                <a:solidFill>
                  <a:srgbClr val="FFFFFF"/>
                </a:solidFill>
                <a:latin typeface="Calibri"/>
                <a:ea typeface="Calibri"/>
                <a:cs typeface="Calibri"/>
              </a:rPr>
              <a:t>MINA</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2026-09-25T17:13:21.8360000Z</dcterms:created>
  <dcterms:modified xsi:type="dcterms:W3CDTF">2026-09-25T17:13:21.8360000Z</dcterms:modified>
</coreProperties>
</file>