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fa011e678a4ca0" /><Relationship Type="http://schemas.openxmlformats.org/officeDocument/2006/relationships/extended-properties" Target="/docProps/app.xml" Id="R7b5100fe0e414b59" /><Relationship Type="http://schemas.openxmlformats.org/officeDocument/2006/relationships/officeDocument" Target="/ppt/presentation.xml" Id="Rac5ea92aecd445ec" /></Relationships>
</file>

<file path=ppt/presentation.xml><?xml version="1.0" encoding="utf-8"?>
<p:presentation xmlns:p="http://schemas.openxmlformats.org/presentationml/2006/main">
  <p:sldMasterIdLst>
    <p:sldMasterId xmlns:r="http://schemas.openxmlformats.org/officeDocument/2006/relationships" id="2147483648" r:id="Rf6ace0de168a49d5"/>
  </p:sldMasterIdLst>
  <p:notesMasterIdLst>
    <p:notesMasterId xmlns:r="http://schemas.openxmlformats.org/officeDocument/2006/relationships" r:id="Rf695cc8195ae474f"/>
  </p:notesMasterIdLst>
  <p:sldIdLst>
    <p:sldId xmlns:r="http://schemas.openxmlformats.org/officeDocument/2006/relationships" id="256" r:id="Rbf7d26d77501432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b5bb7cd45549be" /><Relationship Type="http://schemas.openxmlformats.org/officeDocument/2006/relationships/slideMaster" Target="/ppt/slideMasters/slideMaster1.xml" Id="Rf6ace0de168a49d5" /><Relationship Type="http://schemas.openxmlformats.org/officeDocument/2006/relationships/notesMaster" Target="/ppt/notesMasters/notesMaster1.xml" Id="Rf695cc8195ae474f" /><Relationship Type="http://schemas.openxmlformats.org/officeDocument/2006/relationships/presProps" Target="/ppt/presProps.xml" Id="Ra98b2bfab64d431b" /><Relationship Type="http://schemas.openxmlformats.org/officeDocument/2006/relationships/tableStyles" Target="/ppt/tableStyles.xml" Id="Rf0093a14a76b497b" /><Relationship Type="http://schemas.openxmlformats.org/officeDocument/2006/relationships/slide" Target="/ppt/slides/slide1.xml" Id="Rbf7d26d7750143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f10427419d45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068ee587b34008" /><Relationship Type="http://schemas.openxmlformats.org/officeDocument/2006/relationships/notesMaster" Target="/ppt/notesMasters/notesMaster1.xml" Id="R4bafcf2ecc424f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VP TALK TRACK</a:t>
            </a:r>
          </a:p>
          <a:p xmlns:a="http://schemas.openxmlformats.org/drawingml/2006/main">
            <a:r>
              <a:t/>
            </a:r>
          </a:p>
          <a:p xmlns:a="http://schemas.openxmlformats.org/drawingml/2006/main">
            <a:r>
              <a:t>MINA addresses Mediation &amp; Transformation: the enterprise capability that bridges technical and contract differences at system boundaries without taking ownership of participant business logic.</a:t>
            </a:r>
          </a:p>
          <a:p xmlns:a="http://schemas.openxmlformats.org/drawingml/2006/main">
            <a:r>
              <a:t/>
            </a:r>
          </a:p>
          <a:p xmlns:a="http://schemas.openxmlformats.org/drawingml/2006/main">
            <a:r>
              <a:t>The differentiator is portability. Teams can design an integration visually, then generate readable Python application code. That code can remain under team ownership, be versioned and reviewed, and run through the Control Plane or supported runtimes.</a:t>
            </a:r>
          </a:p>
          <a:p xmlns:a="http://schemas.openxmlformats.org/drawingml/2006/main">
            <a:r>
              <a:t/>
            </a:r>
          </a:p>
          <a:p xmlns:a="http://schemas.openxmlformats.org/drawingml/2006/main">
            <a:r>
              <a:t>MINA aligns to the architecture guardrails: mediation remains bounded; contract and transformation ownership stay explicit; and failures require visible recovery and replay behavior.</a:t>
            </a:r>
          </a:p>
          <a:p xmlns:a="http://schemas.openxmlformats.org/drawingml/2006/main">
            <a:r>
              <a:t/>
            </a:r>
          </a:p>
          <a:p xmlns:a="http://schemas.openxmlformats.org/drawingml/2006/main">
            <a:r>
              <a:t>Recommended discussion: sponsor a production-like pilot to validate delivery time, portability, recovery behavior, and operational support before broader adoption.</a:t>
            </a:r>
          </a:p>
          <a:p xmlns:a="http://schemas.openxmlformats.org/drawingml/2006/main">
            <a:r>
              <a:t/>
            </a:r>
          </a:p>
          <a:p xmlns:a="http://schemas.openxmlformats.org/drawingml/2006/main">
            <a:r>
              <a:t>Sources:</a:t>
            </a:r>
          </a:p>
          <a:p xmlns:a="http://schemas.openxmlformats.org/drawingml/2006/main">
            <a:r>
              <a:t>- Mediation &amp; Transformation, Integration Reference Architecture: https://curator.ssg.petsmart.com/docs/integration-framework/reference-architecture/domains/mediation-transformation/</a:t>
            </a:r>
          </a:p>
          <a:p xmlns:a="http://schemas.openxmlformats.org/drawingml/2006/main">
            <a:r>
              <a:t>- Mediation &amp; Transformation Guardrails: https://curator.ssg.petsmart.com/docs/integration-framework/architecture-guardrails/integration-architecture/mediation-transformation/</a:t>
            </a:r>
          </a:p>
          <a:p xmlns:a="http://schemas.openxmlformats.org/drawingml/2006/main">
            <a:r>
              <a:t>- MINA Executive Overview draft provided by the user.</a:t>
            </a:r>
          </a:p>
          <a:p xmlns:a="http://schemas.openxmlformats.org/drawingml/2006/main">
            <a:r>
              <a:t/>
            </a:r>
          </a:p>
          <a:p xmlns:a="http://schemas.openxmlformats.org/drawingml/2006/main">
            <a:r>
              <a:t>The connectivity artwork is conceptual and AI-generated; it is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86268b75fc49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73254aa6974585" /><Relationship Type="http://schemas.openxmlformats.org/officeDocument/2006/relationships/slideLayout" Target="/ppt/slideLayouts/slideLayout1.xml" Id="Rc829085937a14f8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29085937a14f8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0ba4591b604db7" /><Relationship Type="http://schemas.openxmlformats.org/officeDocument/2006/relationships/image" Target="/ppt/media/image.png" Id="R8c5727bcdb5d42a1" /><Relationship Type="http://schemas.openxmlformats.org/officeDocument/2006/relationships/notesSlide" Target="/ppt/notesSlides/notesSlide1.xml" Id="R27ba30466fdc4974" /></Relationships>
</file>

<file path=ppt/slides/slide1.xml><?xml version="1.0" encoding="utf-8"?>
<p:sld xmlns:p="http://schemas.openxmlformats.org/presentationml/2006/main">
  <p:cSld>
    <p:bg>
      <p:bgPr>
        <a:solidFill xmlns:a="http://schemas.openxmlformats.org/drawingml/2006/main">
          <a:srgbClr val="071322"/>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c5727bcdb5d42a1"/>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category">
            <a:extLst xmlns:a="http://schemas.openxmlformats.org/drawingml/2006/main">
              <a:ext uri="{FF2B5EF4-FFF2-40B4-BE49-F238E27FC236}">
                <a16:creationId xmlns:a16="http://schemas.microsoft.com/office/drawing/2014/main" id="{6A3675B7-004F-4F0E-BDFD-6FE45FC2B48F}"/>
              </a:ext>
            </a:extLst>
          </p:cNvPr>
          <p:cNvSpPr>
            <a:spLocks xmlns:a="http://schemas.openxmlformats.org/drawingml/2006/main" noGrp="1"/>
          </p:cNvSpPr>
          <p:nvPr/>
        </p:nvSpPr>
        <p:spPr>
          <a:xfrm xmlns:a="http://schemas.openxmlformats.org/drawingml/2006/main">
            <a:off x="742950" y="5524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73DAF1"/>
                </a:solidFill>
                <a:latin typeface="Calibri"/>
                <a:ea typeface="Calibri"/>
                <a:cs typeface="Calibri"/>
              </a:defRPr>
            </a:pPr>
            <a:r>
              <a:rPr sz="1725" b="0">
                <a:solidFill>
                  <a:srgbClr val="73DAF1"/>
                </a:solidFill>
                <a:latin typeface="Calibri"/>
                <a:ea typeface="Calibri"/>
                <a:cs typeface="Calibri"/>
              </a:rPr>
              <a:t>Enterprise Mediation &amp; Transformation</a:t>
            </a:r>
          </a:p>
        </p:txBody>
      </p:sp>
      <p:sp>
        <p:nvSpPr>
          <p:cNvPr id="3" name="brand">
            <a:extLst xmlns:a="http://schemas.openxmlformats.org/drawingml/2006/main">
              <a:ext uri="{FF2B5EF4-FFF2-40B4-BE49-F238E27FC236}">
                <a16:creationId xmlns:a16="http://schemas.microsoft.com/office/drawing/2014/main" id="{2214E253-9A2C-4E0B-8A6D-3C290B1B0D1A}"/>
              </a:ext>
            </a:extLst>
          </p:cNvPr>
          <p:cNvSpPr>
            <a:spLocks xmlns:a="http://schemas.openxmlformats.org/drawingml/2006/main" noGrp="1"/>
          </p:cNvSpPr>
          <p:nvPr/>
        </p:nvSpPr>
        <p:spPr>
          <a:xfrm xmlns:a="http://schemas.openxmlformats.org/drawingml/2006/main">
            <a:off x="685800" y="1066800"/>
            <a:ext cx="714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0" b="1">
                <a:solidFill>
                  <a:srgbClr val="FFFFFF"/>
                </a:solidFill>
                <a:latin typeface="Calibri"/>
                <a:ea typeface="Calibri"/>
                <a:cs typeface="Calibri"/>
              </a:defRPr>
            </a:pPr>
            <a:r>
              <a:rPr sz="7500" b="1">
                <a:solidFill>
                  <a:srgbClr val="FFFFFF"/>
                </a:solidFill>
                <a:latin typeface="Calibri"/>
                <a:ea typeface="Calibri"/>
                <a:cs typeface="Calibri"/>
              </a:rPr>
              <a:t>MINA</a:t>
            </a:r>
          </a:p>
        </p:txBody>
      </p:sp>
      <p:sp>
        <p:nvSpPr>
          <p:cNvPr id="4" name="expansion">
            <a:extLst xmlns:a="http://schemas.openxmlformats.org/drawingml/2006/main">
              <a:ext uri="{FF2B5EF4-FFF2-40B4-BE49-F238E27FC236}">
                <a16:creationId xmlns:a16="http://schemas.microsoft.com/office/drawing/2014/main" id="{48C9FACA-A48E-43DB-80B7-55C74124541E}"/>
              </a:ext>
            </a:extLst>
          </p:cNvPr>
          <p:cNvSpPr>
            <a:spLocks xmlns:a="http://schemas.openxmlformats.org/drawingml/2006/main" noGrp="1"/>
          </p:cNvSpPr>
          <p:nvPr/>
        </p:nvSpPr>
        <p:spPr>
          <a:xfrm xmlns:a="http://schemas.openxmlformats.org/drawingml/2006/main">
            <a:off x="742950" y="2505075"/>
            <a:ext cx="8096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D9F5FF"/>
                </a:solidFill>
                <a:latin typeface="Calibri"/>
                <a:ea typeface="Calibri"/>
                <a:cs typeface="Calibri"/>
              </a:defRPr>
            </a:pPr>
            <a:r>
              <a:rPr sz="4050" b="1">
                <a:solidFill>
                  <a:srgbClr val="D9F5FF"/>
                </a:solidFill>
                <a:latin typeface="Calibri"/>
                <a:ea typeface="Calibri"/>
                <a:cs typeface="Calibri"/>
              </a:rPr>
              <a:t>Connects systems</a:t>
            </a:r>
          </a:p>
          <a:p xmlns:a="http://schemas.openxmlformats.org/drawingml/2006/main">
            <a:pPr>
              <a:buNone/>
              <a:defRPr sz="4050" b="1">
                <a:solidFill>
                  <a:srgbClr val="D9F5FF"/>
                </a:solidFill>
                <a:latin typeface="Calibri"/>
                <a:ea typeface="Calibri"/>
                <a:cs typeface="Calibri"/>
              </a:defRPr>
            </a:pPr>
            <a:r>
              <a:rPr sz="4050" b="1">
                <a:solidFill>
                  <a:srgbClr val="D9F5FF"/>
                </a:solidFill>
                <a:latin typeface="Calibri"/>
                <a:ea typeface="Calibri"/>
                <a:cs typeface="Calibri"/>
              </a:rPr>
              <a:t>Deliver faster</a:t>
            </a:r>
          </a:p>
        </p:txBody>
      </p:sp>
      <p:sp>
        <p:nvSpPr>
          <p:cNvPr id="5" name="description">
            <a:extLst xmlns:a="http://schemas.openxmlformats.org/drawingml/2006/main">
              <a:ext uri="{FF2B5EF4-FFF2-40B4-BE49-F238E27FC236}">
                <a16:creationId xmlns:a16="http://schemas.microsoft.com/office/drawing/2014/main" id="{EA03013D-1AF2-4CD2-B6B6-62B2A13A1B33}"/>
              </a:ext>
            </a:extLst>
          </p:cNvPr>
          <p:cNvSpPr>
            <a:spLocks xmlns:a="http://schemas.openxmlformats.org/drawingml/2006/main" noGrp="1"/>
          </p:cNvSpPr>
          <p:nvPr/>
        </p:nvSpPr>
        <p:spPr>
          <a:xfrm xmlns:a="http://schemas.openxmlformats.org/drawingml/2006/main">
            <a:off x="742950" y="4067175"/>
            <a:ext cx="809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BDD0E4"/>
                </a:solidFill>
                <a:latin typeface="Calibri"/>
                <a:ea typeface="Calibri"/>
                <a:cs typeface="Calibri"/>
              </a:defRPr>
            </a:pPr>
            <a:r>
              <a:rPr sz="2175" b="0">
                <a:solidFill>
                  <a:srgbClr val="BDD0E4"/>
                </a:solidFill>
                <a:latin typeface="Calibri"/>
                <a:ea typeface="Calibri"/>
                <a:cs typeface="Calibri"/>
              </a:rPr>
              <a:t>One platform to connect the business</a:t>
            </a:r>
          </a:p>
          <a:p xmlns:a="http://schemas.openxmlformats.org/drawingml/2006/main">
            <a:pPr>
              <a:buNone/>
              <a:defRPr sz="2175" b="0">
                <a:solidFill>
                  <a:srgbClr val="BDD0E4"/>
                </a:solidFill>
                <a:latin typeface="Calibri"/>
                <a:ea typeface="Calibri"/>
                <a:cs typeface="Calibri"/>
              </a:defRPr>
            </a:pPr>
            <a:r>
              <a:rPr sz="2175" b="0">
                <a:solidFill>
                  <a:srgbClr val="BDD0E4"/>
                </a:solidFill>
                <a:latin typeface="Calibri"/>
                <a:ea typeface="Calibri"/>
                <a:cs typeface="Calibri"/>
              </a:rPr>
              <a:t>and simplify integration delivery.</a:t>
            </a:r>
          </a:p>
        </p:txBody>
      </p:sp>
      <p:sp>
        <p:nvSpPr>
          <p:cNvPr id="6" name="studio-heading">
            <a:extLst xmlns:a="http://schemas.openxmlformats.org/drawingml/2006/main">
              <a:ext uri="{FF2B5EF4-FFF2-40B4-BE49-F238E27FC236}">
                <a16:creationId xmlns:a16="http://schemas.microsoft.com/office/drawing/2014/main" id="{AC191F9C-129D-43D1-8247-CEA8998F85DF}"/>
              </a:ext>
            </a:extLst>
          </p:cNvPr>
          <p:cNvSpPr>
            <a:spLocks xmlns:a="http://schemas.openxmlformats.org/drawingml/2006/main" noGrp="1"/>
          </p:cNvSpPr>
          <p:nvPr/>
        </p:nvSpPr>
        <p:spPr>
          <a:xfrm xmlns:a="http://schemas.openxmlformats.org/drawingml/2006/main">
            <a:off x="742950" y="5886450"/>
            <a:ext cx="433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Faster delivery</a:t>
            </a:r>
          </a:p>
        </p:txBody>
      </p:sp>
      <p:sp>
        <p:nvSpPr>
          <p:cNvPr id="7" name="studio-body">
            <a:extLst xmlns:a="http://schemas.openxmlformats.org/drawingml/2006/main">
              <a:ext uri="{FF2B5EF4-FFF2-40B4-BE49-F238E27FC236}">
                <a16:creationId xmlns:a16="http://schemas.microsoft.com/office/drawing/2014/main" id="{BD1E47FA-D39A-4C83-A5B9-013B227BF8F6}"/>
              </a:ext>
            </a:extLst>
          </p:cNvPr>
          <p:cNvSpPr>
            <a:spLocks xmlns:a="http://schemas.openxmlformats.org/drawingml/2006/main" noGrp="1"/>
          </p:cNvSpPr>
          <p:nvPr/>
        </p:nvSpPr>
        <p:spPr>
          <a:xfrm xmlns:a="http://schemas.openxmlformats.org/drawingml/2006/main">
            <a:off x="742950" y="6534150"/>
            <a:ext cx="4333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Bring new integrations</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to the business sooner.</a:t>
            </a:r>
          </a:p>
        </p:txBody>
      </p:sp>
      <p:sp>
        <p:nvSpPr>
          <p:cNvPr id="8" name="connect-heading">
            <a:extLst xmlns:a="http://schemas.openxmlformats.org/drawingml/2006/main">
              <a:ext uri="{FF2B5EF4-FFF2-40B4-BE49-F238E27FC236}">
                <a16:creationId xmlns:a16="http://schemas.microsoft.com/office/drawing/2014/main" id="{E5B5265B-A939-4750-9640-0B82552F32BA}"/>
              </a:ext>
            </a:extLst>
          </p:cNvPr>
          <p:cNvSpPr>
            <a:spLocks xmlns:a="http://schemas.openxmlformats.org/drawingml/2006/main" noGrp="1"/>
          </p:cNvSpPr>
          <p:nvPr/>
        </p:nvSpPr>
        <p:spPr>
          <a:xfrm xmlns:a="http://schemas.openxmlformats.org/drawingml/2006/main">
            <a:off x="5486400" y="5886450"/>
            <a:ext cx="4524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Clear ownership</a:t>
            </a:r>
          </a:p>
        </p:txBody>
      </p:sp>
      <p:sp>
        <p:nvSpPr>
          <p:cNvPr id="9" name="connect-body">
            <a:extLst xmlns:a="http://schemas.openxmlformats.org/drawingml/2006/main">
              <a:ext uri="{FF2B5EF4-FFF2-40B4-BE49-F238E27FC236}">
                <a16:creationId xmlns:a16="http://schemas.microsoft.com/office/drawing/2014/main" id="{BB681D7C-7E25-4BD4-B6B1-0F5D66B7CE5C}"/>
              </a:ext>
            </a:extLst>
          </p:cNvPr>
          <p:cNvSpPr>
            <a:spLocks xmlns:a="http://schemas.openxmlformats.org/drawingml/2006/main" noGrp="1"/>
          </p:cNvSpPr>
          <p:nvPr/>
        </p:nvSpPr>
        <p:spPr>
          <a:xfrm xmlns:a="http://schemas.openxmlformats.org/drawingml/2006/main">
            <a:off x="5486400" y="6534150"/>
            <a:ext cx="438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Reuse what works as</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business needs evolve.</a:t>
            </a:r>
          </a:p>
        </p:txBody>
      </p:sp>
      <p:sp>
        <p:nvSpPr>
          <p:cNvPr id="10" name="operate-heading">
            <a:extLst xmlns:a="http://schemas.openxmlformats.org/drawingml/2006/main">
              <a:ext uri="{FF2B5EF4-FFF2-40B4-BE49-F238E27FC236}">
                <a16:creationId xmlns:a16="http://schemas.microsoft.com/office/drawing/2014/main" id="{47483B41-5BB0-4A39-BFF3-1F203C9E1E3E}"/>
              </a:ext>
            </a:extLst>
          </p:cNvPr>
          <p:cNvSpPr>
            <a:spLocks xmlns:a="http://schemas.openxmlformats.org/drawingml/2006/main" noGrp="1"/>
          </p:cNvSpPr>
          <p:nvPr/>
        </p:nvSpPr>
        <p:spPr>
          <a:xfrm xmlns:a="http://schemas.openxmlformats.org/drawingml/2006/main">
            <a:off x="10287000" y="5886450"/>
            <a:ext cx="442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Portable operations</a:t>
            </a:r>
          </a:p>
        </p:txBody>
      </p:sp>
      <p:sp>
        <p:nvSpPr>
          <p:cNvPr id="11" name="operate-body">
            <a:extLst xmlns:a="http://schemas.openxmlformats.org/drawingml/2006/main">
              <a:ext uri="{FF2B5EF4-FFF2-40B4-BE49-F238E27FC236}">
                <a16:creationId xmlns:a16="http://schemas.microsoft.com/office/drawing/2014/main" id="{5A810888-1518-4005-96FF-2A482FDAFEDB}"/>
              </a:ext>
            </a:extLst>
          </p:cNvPr>
          <p:cNvSpPr>
            <a:spLocks xmlns:a="http://schemas.openxmlformats.org/drawingml/2006/main" noGrp="1"/>
          </p:cNvSpPr>
          <p:nvPr/>
        </p:nvSpPr>
        <p:spPr>
          <a:xfrm xmlns:a="http://schemas.openxmlformats.org/drawingml/2006/main">
            <a:off x="10287000" y="6534150"/>
            <a:ext cx="4429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Manage applications with</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one central view.</a:t>
            </a:r>
          </a:p>
        </p:txBody>
      </p:sp>
      <p:sp>
        <p:nvSpPr>
          <p:cNvPr id="12" name="footer">
            <a:extLst xmlns:a="http://schemas.openxmlformats.org/drawingml/2006/main">
              <a:ext uri="{FF2B5EF4-FFF2-40B4-BE49-F238E27FC236}">
                <a16:creationId xmlns:a16="http://schemas.microsoft.com/office/drawing/2014/main" id="{CD272E9F-9E79-4034-929A-E6A1BE2CF476}"/>
              </a:ext>
            </a:extLst>
          </p:cNvPr>
          <p:cNvSpPr>
            <a:spLocks xmlns:a="http://schemas.openxmlformats.org/drawingml/2006/main" noGrp="1"/>
          </p:cNvSpPr>
          <p:nvPr/>
        </p:nvSpPr>
        <p:spPr>
          <a:xfrm xmlns:a="http://schemas.openxmlformats.org/drawingml/2006/main">
            <a:off x="742950" y="79533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38" b="0">
                <a:solidFill>
                  <a:srgbClr val="97B3CA"/>
                </a:solidFill>
                <a:latin typeface="Calibri"/>
                <a:ea typeface="Calibri"/>
                <a:cs typeface="Calibri"/>
              </a:defRPr>
            </a:pPr>
            <a:r>
              <a:rPr sz="1738" b="0">
                <a:solidFill>
                  <a:srgbClr val="97B3CA"/>
                </a:solidFill>
                <a:latin typeface="Calibri"/>
                <a:ea typeface="Calibri"/>
                <a:cs typeface="Calibri"/>
              </a:rPr>
              <a:t/>
            </a:r>
          </a:p>
        </p:txBody>
      </p:sp>
    </p:spTree>
    <p:extLst>
      <p:ext uri="{BB962C8B-B14F-4D97-AF65-F5344CB8AC3E}">
        <p14:creationId xmlns:p14="http://schemas.microsoft.com/office/powerpoint/2010/main" val="4602625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2026-09-25T17:09:47.9540000Z</dcterms:created>
  <dcterms:modified xsi:type="dcterms:W3CDTF">2026-09-25T17:09:47.9540000Z</dcterms:modified>
</coreProperties>
</file>